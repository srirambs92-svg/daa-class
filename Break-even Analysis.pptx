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SB8zYPOO3XhWyV8aSimC6w+Ks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2d7c520bc4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2d7c520bc4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2d7c520b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2d7c520b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d7c520b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2d7c520bc4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6"/>
            <a:ext cx="10515600" cy="76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>
            <a:off x="838200" y="1271847"/>
            <a:ext cx="10515600" cy="4905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458782"/>
            <a:ext cx="4114800" cy="287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10968644" y="6419778"/>
            <a:ext cx="5735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&#10;&#10;Description automatically generated"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9636" y="6492874"/>
            <a:ext cx="1246909" cy="322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 with medium confidence" id="21" name="Google Shape;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50" y="6384569"/>
            <a:ext cx="1325720" cy="3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Logo&#10;&#10;Description automatically generated" id="25" name="Google Shape;2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07682" y="6213764"/>
            <a:ext cx="2035301" cy="526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567054"/>
            <a:ext cx="4114800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10947862" y="6356350"/>
            <a:ext cx="5735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567054"/>
            <a:ext cx="4114800" cy="137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10947862" y="6356350"/>
            <a:ext cx="5735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br>
              <a:rPr lang="en-US" sz="4800"/>
            </a:br>
            <a:r>
              <a:rPr lang="en-US" sz="4800"/>
              <a:t>Break Even Analysis</a:t>
            </a:r>
            <a:endParaRPr sz="2400"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Decision Modeling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838200" y="365126"/>
            <a:ext cx="10515600" cy="76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Break-even?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609600" y="1375023"/>
            <a:ext cx="5862900" cy="50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Primarily, any venture begun by a firm requires certain capital costs. </a:t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expected that the business recovers this initial capital through earnings over a period of time.</a:t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position of </a:t>
            </a:r>
            <a:r>
              <a:rPr i="1" lang="en-US" sz="22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profit - no loss</a:t>
            </a:r>
            <a:r>
              <a:rPr lang="en-US" sz="22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termed as Break-Even for a venture.</a:t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6624900" y="1282926"/>
            <a:ext cx="5414700" cy="49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2d7c520bc4_0_28"/>
          <p:cNvSpPr txBox="1"/>
          <p:nvPr>
            <p:ph type="title"/>
          </p:nvPr>
        </p:nvSpPr>
        <p:spPr>
          <a:xfrm>
            <a:off x="838200" y="365126"/>
            <a:ext cx="105156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Mathematical Modeling</a:t>
            </a:r>
            <a:endParaRPr/>
          </a:p>
        </p:txBody>
      </p:sp>
      <p:sp>
        <p:nvSpPr>
          <p:cNvPr id="51" name="Google Shape;51;g32d7c520bc4_0_28"/>
          <p:cNvSpPr txBox="1"/>
          <p:nvPr>
            <p:ph idx="1" type="body"/>
          </p:nvPr>
        </p:nvSpPr>
        <p:spPr>
          <a:xfrm>
            <a:off x="609600" y="2819399"/>
            <a:ext cx="10972800" cy="3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Total cost = Fixed cost (Development cost) + Variable cost (user costs)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Variable cost = per user cost x number of users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🡺 Total cost =  fixed cost + per user cost x number of users</a:t>
            </a:r>
            <a:endParaRPr/>
          </a:p>
          <a:p>
            <a:pPr indent="0" lvl="0" marL="1176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Mathematical model: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6932" rtl="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2DA2BF"/>
              </a:buClr>
              <a:buSzPts val="1080"/>
              <a:buNone/>
            </a:pP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TC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= Total Cost</a:t>
            </a:r>
            <a:endParaRPr/>
          </a:p>
          <a:p>
            <a:pPr indent="0" lvl="0" marL="16932" rtl="0" algn="l">
              <a:lnSpc>
                <a:spcPct val="90000"/>
              </a:lnSpc>
              <a:spcBef>
                <a:spcPts val="527"/>
              </a:spcBef>
              <a:spcAft>
                <a:spcPts val="0"/>
              </a:spcAft>
              <a:buClr>
                <a:srgbClr val="2DA2BF"/>
              </a:buClr>
              <a:buSzPts val="1080"/>
              <a:buNone/>
            </a:pP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= Fixed cost</a:t>
            </a:r>
            <a:endParaRPr/>
          </a:p>
          <a:p>
            <a:pPr indent="0" lvl="0" marL="16932" rtl="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rgbClr val="2DA2BF"/>
              </a:buClr>
              <a:buSzPts val="1080"/>
              <a:buNone/>
            </a:pP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= Variable unit cost</a:t>
            </a:r>
            <a:endParaRPr/>
          </a:p>
          <a:p>
            <a:pPr indent="0" lvl="0" marL="16932" rtl="0" algn="l">
              <a:lnSpc>
                <a:spcPct val="90000"/>
              </a:lnSpc>
              <a:spcBef>
                <a:spcPts val="527"/>
              </a:spcBef>
              <a:spcAft>
                <a:spcPts val="0"/>
              </a:spcAft>
              <a:buClr>
                <a:srgbClr val="2DA2BF"/>
              </a:buClr>
              <a:buSzPts val="1080"/>
              <a:buNone/>
            </a:pP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= Quantity produced</a:t>
            </a:r>
            <a:endParaRPr/>
          </a:p>
          <a:p>
            <a:pPr indent="0" lvl="0" marL="117684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52" name="Google Shape;52;g32d7c520bc4_0_28"/>
          <p:cNvSpPr txBox="1"/>
          <p:nvPr/>
        </p:nvSpPr>
        <p:spPr>
          <a:xfrm>
            <a:off x="609600" y="1374892"/>
            <a:ext cx="102615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transformation business problem into a system using mathematical concepts, equations and notations is termed mathematical modeling. The Mathematical modeling is the core aspect of business analytics which enable to find optimum solutions or decisions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d7c520bc4_0_0"/>
          <p:cNvSpPr txBox="1"/>
          <p:nvPr>
            <p:ph type="title"/>
          </p:nvPr>
        </p:nvSpPr>
        <p:spPr>
          <a:xfrm>
            <a:off x="762000" y="558800"/>
            <a:ext cx="96936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Calibri"/>
              <a:buNone/>
            </a:pPr>
            <a:r>
              <a:rPr lang="en-US"/>
              <a:t>Make or Buy Decision Modeling - Manufacturing Example</a:t>
            </a:r>
            <a:endParaRPr/>
          </a:p>
        </p:txBody>
      </p:sp>
      <p:sp>
        <p:nvSpPr>
          <p:cNvPr id="58" name="Google Shape;58;g32d7c520bc4_0_0"/>
          <p:cNvSpPr txBox="1"/>
          <p:nvPr/>
        </p:nvSpPr>
        <p:spPr>
          <a:xfrm>
            <a:off x="609600" y="1908292"/>
            <a:ext cx="102615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business can produce either manufacture product internally or buy from the market.</a:t>
            </a:r>
            <a:endParaRPr sz="2200"/>
          </a:p>
          <a:p>
            <a:pPr indent="-355600" lvl="0" marL="381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Manufacturing has fixed cost  $50,000 of setting up manufacturing facility and manufacturing cost per unit of $125.</a:t>
            </a:r>
            <a:endParaRPr sz="2200"/>
          </a:p>
          <a:p>
            <a:pPr indent="-355600" lvl="0" marL="381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Buying from Market (Outsourcing) has no fixed cost and cost per unit is $175. 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is to choose more economic model based on volume of production.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d7c520bc4_0_5"/>
          <p:cNvSpPr txBox="1"/>
          <p:nvPr>
            <p:ph type="title"/>
          </p:nvPr>
        </p:nvSpPr>
        <p:spPr>
          <a:xfrm>
            <a:off x="1117600" y="486825"/>
            <a:ext cx="102915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Calibri"/>
              <a:buNone/>
            </a:pPr>
            <a:r>
              <a:rPr lang="en-US"/>
              <a:t>Break Even Decision Model</a:t>
            </a:r>
            <a:endParaRPr/>
          </a:p>
        </p:txBody>
      </p:sp>
      <p:sp>
        <p:nvSpPr>
          <p:cNvPr id="64" name="Google Shape;64;g32d7c520bc4_0_5"/>
          <p:cNvSpPr txBox="1"/>
          <p:nvPr>
            <p:ph idx="1" type="body"/>
          </p:nvPr>
        </p:nvSpPr>
        <p:spPr>
          <a:xfrm>
            <a:off x="1117600" y="1695796"/>
            <a:ext cx="14020800" cy="6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TC</a:t>
            </a:r>
            <a:r>
              <a:rPr lang="en-US" sz="1900"/>
              <a:t>(manufacturing) = $50,000 + $125*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  TC</a:t>
            </a:r>
            <a:r>
              <a:rPr lang="en-US" sz="1900"/>
              <a:t>(outsourcing) = $175*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  <a:p>
            <a:pPr indent="-1905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 u="sng">
                <a:latin typeface="Arial"/>
                <a:ea typeface="Arial"/>
                <a:cs typeface="Arial"/>
                <a:sym typeface="Arial"/>
              </a:rPr>
              <a:t>Breakeven Point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63550" lvl="0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Q where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TC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(manufacturing) =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TC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(outsourcing)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1905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$50,000 + $125 ×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= $175 ×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50850" lvl="0" marL="1828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$50,000 = 50 ×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63550" lvl="0" marL="2768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= 1,000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i="1" sz="1900">
              <a:latin typeface="Arial"/>
              <a:ea typeface="Arial"/>
              <a:cs typeface="Arial"/>
              <a:sym typeface="Arial"/>
            </a:endParaRPr>
          </a:p>
          <a:p>
            <a:pPr indent="-1905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General Formula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19050" lvl="0" marL="12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VQ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CQ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450850" lvl="0" marL="850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F/(C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V)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i="1"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65" name="Google Shape;65;g32d7c520bc4_0_5"/>
          <p:cNvSpPr/>
          <p:nvPr/>
        </p:nvSpPr>
        <p:spPr>
          <a:xfrm>
            <a:off x="6400800" y="3225800"/>
            <a:ext cx="4544400" cy="2759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2d7c520bc4_0_5"/>
          <p:cNvSpPr txBox="1"/>
          <p:nvPr/>
        </p:nvSpPr>
        <p:spPr>
          <a:xfrm>
            <a:off x="7349313" y="2638268"/>
            <a:ext cx="300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or Buy Decision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609600" y="482600"/>
            <a:ext cx="10261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Decision Modeling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Software Purchase or In-House?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541867" y="1544225"/>
            <a:ext cx="10261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business decision needs to be made to make or buy a software product.</a:t>
            </a:r>
            <a:endParaRPr sz="2200"/>
          </a:p>
          <a:p>
            <a:pPr indent="-368290" lvl="0" marL="3809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development project costs  $200,000  and maintenance of the software infrastructure costs  $30 per user per annum.</a:t>
            </a:r>
            <a:endParaRPr sz="2200"/>
          </a:p>
          <a:p>
            <a:pPr indent="-368290" lvl="0" marL="3809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Buying a SAAS product directly from a software vendor. This has no development or upfront costs, and the software vendor charges  $250 per user per annum.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is to choose more economic model based on the number of users.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that development cost of $200k is required to maintain and add new feature every year.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838200" y="365126"/>
            <a:ext cx="10515600" cy="76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Break Even Decision Model</a:t>
            </a:r>
            <a:endParaRPr/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838200" y="1271847"/>
            <a:ext cx="10515600" cy="4905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61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67"/>
              <a:t>Total Cost of Development = $200,000 + $30 x Users</a:t>
            </a:r>
            <a:endParaRPr/>
          </a:p>
          <a:p>
            <a:pPr indent="-22866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67"/>
              <a:t>Total Cost of SAAS software = $250 x Users</a:t>
            </a:r>
            <a:endParaRPr/>
          </a:p>
          <a:p>
            <a:pPr indent="92668" lvl="0" marL="16933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67" u="sng">
              <a:latin typeface="Arial"/>
              <a:ea typeface="Arial"/>
              <a:cs typeface="Arial"/>
              <a:sym typeface="Arial"/>
            </a:endParaRPr>
          </a:p>
          <a:p>
            <a:pPr indent="92668" lvl="0" marL="16933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67" u="sng">
              <a:latin typeface="Arial"/>
              <a:ea typeface="Arial"/>
              <a:cs typeface="Arial"/>
              <a:sym typeface="Arial"/>
            </a:endParaRPr>
          </a:p>
          <a:p>
            <a:pPr indent="-16994" lvl="0" marL="16933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67" u="sng">
                <a:latin typeface="Arial"/>
                <a:ea typeface="Arial"/>
                <a:cs typeface="Arial"/>
                <a:sym typeface="Arial"/>
              </a:rPr>
              <a:t>Breakeven Point</a:t>
            </a:r>
            <a:r>
              <a:rPr lang="en-US" sz="1867">
                <a:latin typeface="Arial"/>
                <a:ea typeface="Arial"/>
                <a:cs typeface="Arial"/>
                <a:sym typeface="Arial"/>
              </a:rPr>
              <a:t>:</a:t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118999" lvl="0" marL="2286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228661" lvl="0" marL="2286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67">
                <a:latin typeface="Arial"/>
                <a:ea typeface="Arial"/>
                <a:cs typeface="Arial"/>
                <a:sym typeface="Arial"/>
              </a:rPr>
              <a:t>Can get break even point by equating above equations</a:t>
            </a:r>
            <a:endParaRPr/>
          </a:p>
          <a:p>
            <a:pPr indent="-118999" lvl="0" marL="2286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16994" lvl="0" marL="1693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67"/>
              <a:t>$200,000 + $30 x Users = $250 x Users</a:t>
            </a:r>
            <a:endParaRPr/>
          </a:p>
          <a:p>
            <a:pPr indent="-228661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🡺"/>
            </a:pPr>
            <a:r>
              <a:rPr lang="en-US" sz="1867">
                <a:latin typeface="Arial"/>
                <a:ea typeface="Arial"/>
                <a:cs typeface="Arial"/>
                <a:sym typeface="Arial"/>
              </a:rPr>
              <a:t>220xusers = 200,000 🡺  about  909  users.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sz="186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67">
                <a:latin typeface="Arial"/>
                <a:ea typeface="Arial"/>
                <a:cs typeface="Arial"/>
                <a:sym typeface="Arial"/>
              </a:rPr>
              <a:t>This means at 909 users both costs are same. So, if  number of users are more than 909, then we develop software otherwise buying SAAS software is better.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sz="1867">
              <a:latin typeface="Arial"/>
              <a:ea typeface="Arial"/>
              <a:cs typeface="Arial"/>
              <a:sym typeface="Arial"/>
            </a:endParaRPr>
          </a:p>
          <a:p>
            <a:pPr indent="-16994" lvl="0" marL="16933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67">
                <a:latin typeface="Arial"/>
                <a:ea typeface="Arial"/>
                <a:cs typeface="Arial"/>
                <a:sym typeface="Arial"/>
              </a:rPr>
              <a:t>General Formula</a:t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16994" lvl="0" marL="16933" rtl="0" algn="l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867"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VQ </a:t>
            </a:r>
            <a:r>
              <a:rPr lang="en-US" sz="1867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CQ</a:t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228661" lvl="0" marL="853419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Q </a:t>
            </a:r>
            <a:r>
              <a:rPr lang="en-US" sz="1867"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F/(C </a:t>
            </a:r>
            <a:r>
              <a:rPr lang="en-US" sz="1867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i="1" lang="en-US" sz="1867">
                <a:latin typeface="Arial"/>
                <a:ea typeface="Arial"/>
                <a:cs typeface="Arial"/>
                <a:sym typeface="Arial"/>
              </a:rPr>
              <a:t>V)</a:t>
            </a:r>
            <a:endParaRPr sz="1867">
              <a:latin typeface="Arial"/>
              <a:ea typeface="Arial"/>
              <a:cs typeface="Arial"/>
              <a:sym typeface="Arial"/>
            </a:endParaRPr>
          </a:p>
          <a:p>
            <a:pPr indent="-11899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sz="1867">
              <a:latin typeface="Arial"/>
              <a:ea typeface="Arial"/>
              <a:cs typeface="Arial"/>
              <a:sym typeface="Arial"/>
            </a:endParaRPr>
          </a:p>
          <a:p>
            <a:pPr indent="-11899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2022-12-11T17:17:08Z</dcterms:created>
  <dc:creator>Ashok Kumar A</dc:creator>
</cp:coreProperties>
</file>